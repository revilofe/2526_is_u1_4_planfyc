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9144000"/>
  <p:notesSz cx="6858000" cy="9144000"/>
  <p:embeddedFontLst>
    <p:embeddedFont>
      <p:font typeface="Century Gothic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3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jnQpVWFljhFpRTxSue5uQl4b5q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37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enturyGothic-regular.fntdata"/><Relationship Id="rId20" Type="http://schemas.openxmlformats.org/officeDocument/2006/relationships/slide" Target="slides/slide15.xml"/><Relationship Id="rId42" Type="http://schemas.openxmlformats.org/officeDocument/2006/relationships/font" Target="fonts/CenturyGothic-italic.fntdata"/><Relationship Id="rId41" Type="http://schemas.openxmlformats.org/officeDocument/2006/relationships/font" Target="fonts/CenturyGothic-bold.fntdata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CenturyGothic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se enfoca tanto al conocimiento de los diferentes riesgos de la tecnología eInternet, como al apoyo de las familias para que puedan desempeñar una mediación parental activa y eficaz, dado que esta es su mejor herramienta para apoyar a sus hijos/as en un uso seguro y responsable de Internet.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En cuanto a los riesgos no se trata de escandalizar a las familias, sino escuchar sus inquietudes en materia de ciberseguridad y menores, partir de sus conocimientos y experiencias, para complementarlas y mejorar su perspectiva en este ámbito. El objetivo es que puedan ser más eficaces a la hora de detectar tempranamente o resolver un incidente en línea.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Es fundamental rebatir la extendida idea de que “eso a mi hijo/a no le va a pasar” (baste reflexionar brevemente sobre algunos datos: según el estudio Net Children Go Mobile 1 , un 18% de los menores se habían sentido molestos por algo sucedido en Internet, un 32% había sufrido bullying, un 31% había recibido mensajes sexuales de algún tipo, un 21% había contactado en línea con personas desconocidas, un 32% había visto contenidos inapropiados y potencialmente dañinos, etc.).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[Puede ser buena idea hacer algunas preguntas a las personas participantes para contextualizar la presentación, especialmente si hay rangos de edades similares.]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s-ES"/>
              <a:t>¿Cuáles son las edades de sus hijos/as?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s-ES"/>
              <a:t>¿Se puede confiar en ellos/as (son responsables y maduros)?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s-ES"/>
              <a:t>¿Qué dispositivos utilizan (son suyos propios o de la casa)?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s-ES"/>
              <a:t>¿Cuándo y desde dónde se conectan?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¿Hablan con ellos/as de lo que hacen en Internet? ¿Cómo les supervisan?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[Les animaremos a responder a estas preguntas, dejando abierta la posibilidad de que vayan comentando de forma natural sobre sus intereses y hábitos en línea.]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68" name="Google Shape;36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hyperlink" Target="https://twitter.com/is4kids" TargetMode="External"/><Relationship Id="rId13" Type="http://schemas.openxmlformats.org/officeDocument/2006/relationships/image" Target="../media/image16.png"/><Relationship Id="rId1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Relationship Id="rId4" Type="http://schemas.openxmlformats.org/officeDocument/2006/relationships/image" Target="../media/image7.jpg"/><Relationship Id="rId9" Type="http://schemas.openxmlformats.org/officeDocument/2006/relationships/image" Target="../media/image10.png"/><Relationship Id="rId5" Type="http://schemas.openxmlformats.org/officeDocument/2006/relationships/image" Target="../media/image75.png"/><Relationship Id="rId6" Type="http://schemas.openxmlformats.org/officeDocument/2006/relationships/hyperlink" Target="https://www.is4k.es/" TargetMode="External"/><Relationship Id="rId7" Type="http://schemas.openxmlformats.org/officeDocument/2006/relationships/image" Target="../media/image9.jpg"/><Relationship Id="rId8" Type="http://schemas.openxmlformats.org/officeDocument/2006/relationships/hyperlink" Target="https://www.facebook.com/Internet-Segura-For-Kids-1886436838309254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6"/>
          <p:cNvSpPr/>
          <p:nvPr/>
        </p:nvSpPr>
        <p:spPr>
          <a:xfrm>
            <a:off x="5646738" y="2847975"/>
            <a:ext cx="1908175" cy="1908175"/>
          </a:xfrm>
          <a:prstGeom prst="ellipse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36"/>
          <p:cNvSpPr/>
          <p:nvPr/>
        </p:nvSpPr>
        <p:spPr>
          <a:xfrm>
            <a:off x="814388" y="2849563"/>
            <a:ext cx="5786437" cy="190817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9AD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6"/>
          <p:cNvSpPr/>
          <p:nvPr/>
        </p:nvSpPr>
        <p:spPr>
          <a:xfrm>
            <a:off x="1620838" y="0"/>
            <a:ext cx="1285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6"/>
          <p:cNvSpPr/>
          <p:nvPr/>
        </p:nvSpPr>
        <p:spPr>
          <a:xfrm>
            <a:off x="0" y="0"/>
            <a:ext cx="1704975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7755" y="6106629"/>
            <a:ext cx="1870071" cy="494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6156" y="6215063"/>
            <a:ext cx="1447800" cy="4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6"/>
          <p:cNvSpPr txBox="1"/>
          <p:nvPr>
            <p:ph type="ctrTitle"/>
          </p:nvPr>
        </p:nvSpPr>
        <p:spPr>
          <a:xfrm>
            <a:off x="1865029" y="3186248"/>
            <a:ext cx="5343705" cy="1900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6"/>
          <p:cNvSpPr/>
          <p:nvPr/>
        </p:nvSpPr>
        <p:spPr>
          <a:xfrm>
            <a:off x="762454" y="526292"/>
            <a:ext cx="3041196" cy="143609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067" y="882030"/>
            <a:ext cx="3070724" cy="724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>
  <p:cSld name="Sólo el título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7"/>
          <p:cNvSpPr/>
          <p:nvPr/>
        </p:nvSpPr>
        <p:spPr>
          <a:xfrm>
            <a:off x="0" y="6089651"/>
            <a:ext cx="9144000" cy="795337"/>
          </a:xfrm>
          <a:prstGeom prst="rect">
            <a:avLst/>
          </a:prstGeom>
          <a:solidFill>
            <a:srgbClr val="009AD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2" name="Google Shape;22;p37"/>
          <p:cNvSpPr txBox="1"/>
          <p:nvPr>
            <p:ph type="title"/>
          </p:nvPr>
        </p:nvSpPr>
        <p:spPr>
          <a:xfrm>
            <a:off x="139700" y="6089650"/>
            <a:ext cx="7390872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37"/>
          <p:cNvSpPr/>
          <p:nvPr/>
        </p:nvSpPr>
        <p:spPr>
          <a:xfrm>
            <a:off x="0" y="6839267"/>
            <a:ext cx="9144000" cy="45719"/>
          </a:xfrm>
          <a:prstGeom prst="rect">
            <a:avLst/>
          </a:prstGeom>
          <a:solidFill>
            <a:srgbClr val="A4B7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24" name="Google Shape;24;p37"/>
          <p:cNvGrpSpPr/>
          <p:nvPr/>
        </p:nvGrpSpPr>
        <p:grpSpPr>
          <a:xfrm>
            <a:off x="7483037" y="6194964"/>
            <a:ext cx="1510336" cy="575400"/>
            <a:chOff x="7483037" y="6194964"/>
            <a:chExt cx="1510336" cy="575400"/>
          </a:xfrm>
        </p:grpSpPr>
        <p:pic>
          <p:nvPicPr>
            <p:cNvPr id="25" name="Google Shape;25;p3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547924" y="6194964"/>
              <a:ext cx="1425984" cy="2522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113893" y="6531429"/>
              <a:ext cx="879480" cy="2389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" name="Google Shape;27;p37"/>
            <p:cNvSpPr txBox="1"/>
            <p:nvPr/>
          </p:nvSpPr>
          <p:spPr>
            <a:xfrm>
              <a:off x="7483037" y="6447199"/>
              <a:ext cx="678391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800" u="none" cap="none" strike="noStrike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A través de:</a:t>
              </a:r>
              <a:endParaRPr sz="8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1974" y="6040294"/>
            <a:ext cx="1725612" cy="45646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8"/>
          <p:cNvSpPr/>
          <p:nvPr/>
        </p:nvSpPr>
        <p:spPr>
          <a:xfrm>
            <a:off x="0" y="0"/>
            <a:ext cx="9144000" cy="110202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9AD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8"/>
          <p:cNvSpPr txBox="1"/>
          <p:nvPr/>
        </p:nvSpPr>
        <p:spPr>
          <a:xfrm>
            <a:off x="2287587" y="168225"/>
            <a:ext cx="464978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Gracias por su atención</a:t>
            </a:r>
            <a:endParaRPr b="1"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1554" y="6030047"/>
            <a:ext cx="1479304" cy="450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6800" y="5963954"/>
            <a:ext cx="2471362" cy="583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7154" y="1547636"/>
            <a:ext cx="2155568" cy="28369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8"/>
          <p:cNvGrpSpPr/>
          <p:nvPr/>
        </p:nvGrpSpPr>
        <p:grpSpPr>
          <a:xfrm>
            <a:off x="4481852" y="1270252"/>
            <a:ext cx="3638536" cy="3477875"/>
            <a:chOff x="4481852" y="1270252"/>
            <a:chExt cx="3638536" cy="3477875"/>
          </a:xfrm>
        </p:grpSpPr>
        <p:grpSp>
          <p:nvGrpSpPr>
            <p:cNvPr id="36" name="Google Shape;36;p38"/>
            <p:cNvGrpSpPr/>
            <p:nvPr/>
          </p:nvGrpSpPr>
          <p:grpSpPr>
            <a:xfrm>
              <a:off x="4481852" y="1270252"/>
              <a:ext cx="3638536" cy="3477875"/>
              <a:chOff x="4852322" y="1587101"/>
              <a:chExt cx="3638536" cy="3477875"/>
            </a:xfrm>
          </p:grpSpPr>
          <p:grpSp>
            <p:nvGrpSpPr>
              <p:cNvPr id="37" name="Google Shape;37;p38"/>
              <p:cNvGrpSpPr/>
              <p:nvPr/>
            </p:nvGrpSpPr>
            <p:grpSpPr>
              <a:xfrm>
                <a:off x="4953240" y="1587101"/>
                <a:ext cx="3537618" cy="3477875"/>
                <a:chOff x="4906294" y="2728362"/>
                <a:chExt cx="3537618" cy="3477875"/>
              </a:xfrm>
            </p:grpSpPr>
            <p:sp>
              <p:nvSpPr>
                <p:cNvPr id="38" name="Google Shape;38;p38"/>
                <p:cNvSpPr txBox="1"/>
                <p:nvPr/>
              </p:nvSpPr>
              <p:spPr>
                <a:xfrm>
                  <a:off x="5325756" y="2728362"/>
                  <a:ext cx="3118156" cy="3477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s-ES" sz="2000" u="none">
                      <a:solidFill>
                        <a:srgbClr val="7F7F7F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https://www.is4k.es</a:t>
                  </a:r>
                  <a:endParaRPr/>
                </a:p>
                <a:p>
                  <a:pPr indent="0" lvl="0" marL="0" marR="0" rtl="0" algn="l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s-ES" sz="2000">
                      <a:solidFill>
                        <a:srgbClr val="7F7F7F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https://incibe.es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2000">
                    <a:solidFill>
                      <a:srgbClr val="7F7F7F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s-ES" sz="2000">
                      <a:solidFill>
                        <a:srgbClr val="7F7F7F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contacto@is4k.es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1" sz="2000">
                    <a:solidFill>
                      <a:srgbClr val="7F7F7F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s-ES" sz="2000">
                      <a:solidFill>
                        <a:srgbClr val="7F7F7F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Internet Segura for Kids</a:t>
                  </a:r>
                  <a:endParaRPr b="1" sz="2000">
                    <a:solidFill>
                      <a:srgbClr val="7F7F7F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1" sz="2000">
                    <a:solidFill>
                      <a:srgbClr val="7F7F7F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s-ES" sz="2000">
                      <a:solidFill>
                        <a:srgbClr val="7F7F7F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@is4k / @incibe</a:t>
                  </a:r>
                  <a:endParaRPr b="1" sz="2000">
                    <a:solidFill>
                      <a:srgbClr val="7F7F7F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2000">
                    <a:solidFill>
                      <a:srgbClr val="7F7F7F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s-ES" sz="2000">
                      <a:solidFill>
                        <a:srgbClr val="7F7F7F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Suscripción Boletines</a:t>
                  </a:r>
                  <a:endParaRPr/>
                </a:p>
              </p:txBody>
            </p:sp>
            <p:pic>
              <p:nvPicPr>
                <p:cNvPr descr="http://us.cdn1.123rf.com/168nwm/alexwhite/alexwhite1302/alexwhite130202469/18037127-casa-azul-cuadrado-icono-web-brillante-en-el-fondo-blanco.jpg" id="39" name="Google Shape;39;p38">
                  <a:hlinkClick r:id="rId6"/>
                </p:cNvPr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4906294" y="2888820"/>
                  <a:ext cx="352929" cy="27260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0" name="Google Shape;40;p38">
                  <a:hlinkClick r:id="rId8"/>
                </p:cNvPr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4963388" y="4630619"/>
                  <a:ext cx="295835" cy="3072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1" name="Google Shape;41;p38">
                  <a:hlinkClick r:id="rId10"/>
                </p:cNvPr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4958147" y="5235932"/>
                  <a:ext cx="307213" cy="3072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42" name="Google Shape;42;p3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 flipH="1">
                <a:off x="4852322" y="4730567"/>
                <a:ext cx="611857" cy="32171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3" name="Google Shape;43;p3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689372" y="2570226"/>
              <a:ext cx="273600" cy="273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9"/>
          <p:cNvSpPr txBox="1"/>
          <p:nvPr>
            <p:ph idx="1" type="body"/>
          </p:nvPr>
        </p:nvSpPr>
        <p:spPr>
          <a:xfrm>
            <a:off x="139700" y="259307"/>
            <a:ext cx="8864600" cy="5866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9DB900"/>
              </a:buClr>
              <a:buSzPts val="2400"/>
              <a:buFont typeface="Noto Sans Symbols"/>
              <a:buChar char="▪"/>
              <a:defRPr b="1" i="0" sz="2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9DB900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496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9DB900"/>
              </a:buClr>
              <a:buSzPts val="1360"/>
              <a:buFont typeface="Calibri"/>
              <a:buChar char="□"/>
              <a:defRPr b="0" i="0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9DB900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spcBef>
                <a:spcPts val="240"/>
              </a:spcBef>
              <a:spcAft>
                <a:spcPts val="0"/>
              </a:spcAft>
              <a:buClr>
                <a:srgbClr val="9DB900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39"/>
          <p:cNvSpPr/>
          <p:nvPr/>
        </p:nvSpPr>
        <p:spPr>
          <a:xfrm>
            <a:off x="0" y="6089651"/>
            <a:ext cx="9144000" cy="795337"/>
          </a:xfrm>
          <a:prstGeom prst="rect">
            <a:avLst/>
          </a:prstGeom>
          <a:solidFill>
            <a:srgbClr val="009AD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7" name="Google Shape;47;p39"/>
          <p:cNvSpPr txBox="1"/>
          <p:nvPr>
            <p:ph type="title"/>
          </p:nvPr>
        </p:nvSpPr>
        <p:spPr>
          <a:xfrm>
            <a:off x="139699" y="6089650"/>
            <a:ext cx="732517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39"/>
          <p:cNvSpPr/>
          <p:nvPr/>
        </p:nvSpPr>
        <p:spPr>
          <a:xfrm>
            <a:off x="0" y="6839267"/>
            <a:ext cx="9144000" cy="45719"/>
          </a:xfrm>
          <a:prstGeom prst="rect">
            <a:avLst/>
          </a:prstGeom>
          <a:solidFill>
            <a:srgbClr val="A4B7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49" name="Google Shape;49;p39"/>
          <p:cNvGrpSpPr/>
          <p:nvPr/>
        </p:nvGrpSpPr>
        <p:grpSpPr>
          <a:xfrm>
            <a:off x="7483037" y="6194964"/>
            <a:ext cx="1510336" cy="575400"/>
            <a:chOff x="7483037" y="6194964"/>
            <a:chExt cx="1510336" cy="575400"/>
          </a:xfrm>
        </p:grpSpPr>
        <p:pic>
          <p:nvPicPr>
            <p:cNvPr id="50" name="Google Shape;50;p3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547924" y="6194964"/>
              <a:ext cx="1425984" cy="2522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113893" y="6531429"/>
              <a:ext cx="879480" cy="2389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" name="Google Shape;52;p39"/>
            <p:cNvSpPr txBox="1"/>
            <p:nvPr/>
          </p:nvSpPr>
          <p:spPr>
            <a:xfrm>
              <a:off x="7483037" y="6447199"/>
              <a:ext cx="678391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8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A través de:</a:t>
              </a:r>
              <a:endParaRPr sz="8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40"/>
          <p:cNvGrpSpPr/>
          <p:nvPr/>
        </p:nvGrpSpPr>
        <p:grpSpPr>
          <a:xfrm>
            <a:off x="7741782" y="6080138"/>
            <a:ext cx="1351285" cy="571687"/>
            <a:chOff x="7741782" y="6080138"/>
            <a:chExt cx="1351285" cy="571687"/>
          </a:xfrm>
        </p:grpSpPr>
        <p:pic>
          <p:nvPicPr>
            <p:cNvPr id="55" name="Google Shape;55;p4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822232" y="6080138"/>
              <a:ext cx="1195882" cy="2821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420173" y="6469015"/>
              <a:ext cx="672894" cy="1828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Google Shape;57;p40"/>
            <p:cNvSpPr txBox="1"/>
            <p:nvPr/>
          </p:nvSpPr>
          <p:spPr>
            <a:xfrm>
              <a:off x="7741782" y="6407667"/>
              <a:ext cx="678391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800">
                  <a:solidFill>
                    <a:srgbClr val="A5A5A5"/>
                  </a:solidFill>
                  <a:latin typeface="Calibri"/>
                  <a:ea typeface="Calibri"/>
                  <a:cs typeface="Calibri"/>
                  <a:sym typeface="Calibri"/>
                </a:rPr>
                <a:t>A través de:</a:t>
              </a:r>
              <a:endParaRPr sz="8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19.png"/><Relationship Id="rId13" Type="http://schemas.openxmlformats.org/officeDocument/2006/relationships/image" Target="../media/image25.png"/><Relationship Id="rId1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jpg"/><Relationship Id="rId4" Type="http://schemas.openxmlformats.org/officeDocument/2006/relationships/image" Target="../media/image18.jpg"/><Relationship Id="rId9" Type="http://schemas.openxmlformats.org/officeDocument/2006/relationships/image" Target="../media/image28.png"/><Relationship Id="rId5" Type="http://schemas.openxmlformats.org/officeDocument/2006/relationships/image" Target="../media/image22.jpg"/><Relationship Id="rId6" Type="http://schemas.openxmlformats.org/officeDocument/2006/relationships/image" Target="../media/image23.png"/><Relationship Id="rId7" Type="http://schemas.openxmlformats.org/officeDocument/2006/relationships/image" Target="../media/image26.png"/><Relationship Id="rId8" Type="http://schemas.openxmlformats.org/officeDocument/2006/relationships/image" Target="../media/image2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lpais.com/elpais/2018/06/11/mamas_papas/1528706334_714292.html" TargetMode="External"/><Relationship Id="rId4" Type="http://schemas.openxmlformats.org/officeDocument/2006/relationships/image" Target="../media/image29.png"/><Relationship Id="rId5" Type="http://schemas.openxmlformats.org/officeDocument/2006/relationships/hyperlink" Target="https://www.abc.es/tecnologia/abci-adolescentes-entre-11-y-14-anos-representan-mayor-tasa-ciberacoso-201707261422_noticia.html" TargetMode="External"/><Relationship Id="rId6" Type="http://schemas.openxmlformats.org/officeDocument/2006/relationships/image" Target="../media/image2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7.png"/><Relationship Id="rId4" Type="http://schemas.openxmlformats.org/officeDocument/2006/relationships/image" Target="../media/image4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jpg"/><Relationship Id="rId4" Type="http://schemas.openxmlformats.org/officeDocument/2006/relationships/image" Target="../media/image4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youtube.com/watch?v=_whpii1co1g" TargetMode="External"/><Relationship Id="rId4" Type="http://schemas.openxmlformats.org/officeDocument/2006/relationships/image" Target="../media/image39.jpg"/><Relationship Id="rId5" Type="http://schemas.openxmlformats.org/officeDocument/2006/relationships/hyperlink" Target="https://www.youtube.com/watch?v=_whpii1co1g" TargetMode="External"/><Relationship Id="rId6" Type="http://schemas.openxmlformats.org/officeDocument/2006/relationships/image" Target="../media/image46.jpg"/><Relationship Id="rId7" Type="http://schemas.openxmlformats.org/officeDocument/2006/relationships/hyperlink" Target="https://www.youtube.com/watch?v=_whpii1co1g" TargetMode="External"/><Relationship Id="rId8" Type="http://schemas.openxmlformats.org/officeDocument/2006/relationships/image" Target="../media/image3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0.jpg"/><Relationship Id="rId4" Type="http://schemas.openxmlformats.org/officeDocument/2006/relationships/image" Target="../media/image4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8.jpg"/><Relationship Id="rId4" Type="http://schemas.openxmlformats.org/officeDocument/2006/relationships/image" Target="../media/image5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is4k.es/" TargetMode="External"/><Relationship Id="rId4" Type="http://schemas.openxmlformats.org/officeDocument/2006/relationships/image" Target="../media/image4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3.jpg"/></Relationships>
</file>

<file path=ppt/slides/_rels/slide24.xml.rels><?xml version="1.0" encoding="UTF-8" standalone="yes"?><Relationships xmlns="http://schemas.openxmlformats.org/package/2006/relationships"><Relationship Id="rId11" Type="http://schemas.openxmlformats.org/officeDocument/2006/relationships/image" Target="../media/image60.png"/><Relationship Id="rId10" Type="http://schemas.openxmlformats.org/officeDocument/2006/relationships/image" Target="../media/image54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alarms.org/kidrex/" TargetMode="External"/><Relationship Id="rId4" Type="http://schemas.openxmlformats.org/officeDocument/2006/relationships/image" Target="../media/image56.jpg"/><Relationship Id="rId9" Type="http://schemas.openxmlformats.org/officeDocument/2006/relationships/hyperlink" Target="https://www.youtube.com/yt/kids/" TargetMode="External"/><Relationship Id="rId5" Type="http://schemas.openxmlformats.org/officeDocument/2006/relationships/hyperlink" Target="http://bunis.org/" TargetMode="External"/><Relationship Id="rId6" Type="http://schemas.openxmlformats.org/officeDocument/2006/relationships/image" Target="../media/image52.png"/><Relationship Id="rId7" Type="http://schemas.openxmlformats.org/officeDocument/2006/relationships/hyperlink" Target="https://www.google.es/preferences?hl=es&amp;fg=1" TargetMode="External"/><Relationship Id="rId8" Type="http://schemas.openxmlformats.org/officeDocument/2006/relationships/image" Target="../media/image5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2.jpg"/><Relationship Id="rId4" Type="http://schemas.openxmlformats.org/officeDocument/2006/relationships/hyperlink" Target="https://www.is4k.es/de-utilidad/herramientas" TargetMode="External"/><Relationship Id="rId5" Type="http://schemas.openxmlformats.org/officeDocument/2006/relationships/image" Target="../media/image6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beinternetawesome.withgoogle.com/en_us/interland/tower-of-treasure" TargetMode="External"/><Relationship Id="rId4" Type="http://schemas.openxmlformats.org/officeDocument/2006/relationships/image" Target="../media/image63.jpg"/><Relationship Id="rId5" Type="http://schemas.openxmlformats.org/officeDocument/2006/relationships/image" Target="../media/image58.png"/><Relationship Id="rId6" Type="http://schemas.openxmlformats.org/officeDocument/2006/relationships/image" Target="../media/image5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play.google.com/store/apps/details?id=com.whatsapp" TargetMode="External"/><Relationship Id="rId4" Type="http://schemas.openxmlformats.org/officeDocument/2006/relationships/image" Target="../media/image6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5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1.png"/><Relationship Id="rId4" Type="http://schemas.openxmlformats.org/officeDocument/2006/relationships/image" Target="../media/image69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0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8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>
            <p:ph type="ctrTitle"/>
          </p:nvPr>
        </p:nvSpPr>
        <p:spPr>
          <a:xfrm>
            <a:off x="1770063" y="2900363"/>
            <a:ext cx="5564187" cy="190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/>
              <a:t>CIBERSEGURIDAD PARA FAMILIAS</a:t>
            </a:r>
            <a:br>
              <a:rPr lang="es-ES" sz="4000"/>
            </a:br>
            <a:r>
              <a:rPr lang="es-ES" sz="2200"/>
              <a:t>(CON MENORES EN EDAD ESCOLAR)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0864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¿QUÉ USO HACEN DE INTERNET?</a:t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597636" y="288758"/>
            <a:ext cx="7856990" cy="550244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89374" y="543066"/>
            <a:ext cx="7155913" cy="543615"/>
          </a:xfrm>
          <a:prstGeom prst="roundRect">
            <a:avLst>
              <a:gd fmla="val 16667" name="adj"/>
            </a:avLst>
          </a:prstGeom>
          <a:solidFill>
            <a:srgbClr val="336699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689374" y="1649624"/>
            <a:ext cx="5989722" cy="543615"/>
          </a:xfrm>
          <a:prstGeom prst="roundRect">
            <a:avLst>
              <a:gd fmla="val 16667" name="adj"/>
            </a:avLst>
          </a:prstGeom>
          <a:solidFill>
            <a:srgbClr val="336699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689373" y="2756183"/>
            <a:ext cx="5539149" cy="543615"/>
          </a:xfrm>
          <a:prstGeom prst="roundRect">
            <a:avLst>
              <a:gd fmla="val 16667" name="adj"/>
            </a:avLst>
          </a:prstGeom>
          <a:solidFill>
            <a:srgbClr val="336699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89374" y="3875995"/>
            <a:ext cx="4478976" cy="543615"/>
          </a:xfrm>
          <a:prstGeom prst="roundRect">
            <a:avLst>
              <a:gd fmla="val 16667" name="adj"/>
            </a:avLst>
          </a:prstGeom>
          <a:solidFill>
            <a:srgbClr val="336699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689372" y="4969033"/>
            <a:ext cx="5128331" cy="543615"/>
          </a:xfrm>
          <a:prstGeom prst="roundRect">
            <a:avLst>
              <a:gd fmla="val 16667" name="adj"/>
            </a:avLst>
          </a:prstGeom>
          <a:solidFill>
            <a:srgbClr val="336699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689374" y="479197"/>
            <a:ext cx="7765252" cy="504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¿Qué edad tienen nuestros hijos/as?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3366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¿Se puede confiar en ellos/as?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3366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¿Usan dispositivos propios?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3366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¿Cuándo se conectan?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3366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¿Cómo les supervisamos?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3440" y="-5653"/>
            <a:ext cx="4490560" cy="6095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" y="3149056"/>
            <a:ext cx="4653441" cy="2940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-944"/>
            <a:ext cx="4742696" cy="31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¿QUÉ USO HACEN DE INTERNET?</a:t>
            </a:r>
            <a:endParaRPr/>
          </a:p>
        </p:txBody>
      </p:sp>
      <p:pic>
        <p:nvPicPr>
          <p:cNvPr id="84" name="Google Shape;8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2288" y="634702"/>
            <a:ext cx="1008000" cy="10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8180" y="1802440"/>
            <a:ext cx="1008000" cy="100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s5-ssl.mzstatic.com/image/thumb/Purple124/v4/3e/b1/ea/3eb1ea1e-9b98-eb79-bb79-a7671b492328/AppIcon-1x_U007emarketing-0-0-GLES2_U002c0-512MB-sRGB-0-0-0-85-220-0-0-0-6.png/230x0w.jpg" id="86" name="Google Shape;86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39553" y="1802441"/>
            <a:ext cx="1008120" cy="100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39552" y="634702"/>
            <a:ext cx="1008000" cy="10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39552" y="4230419"/>
            <a:ext cx="1008000" cy="10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87301" y="3041106"/>
            <a:ext cx="1008000" cy="10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740431" y="3039645"/>
            <a:ext cx="1008000" cy="10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81207" y="4230419"/>
            <a:ext cx="1008000" cy="10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>
            <a:off x="4014824" y="1025856"/>
            <a:ext cx="2214307" cy="245946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4054580" y="1053985"/>
            <a:ext cx="2227560" cy="2431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Divertirse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Aprender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Charlar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Ligar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mo 24" id="98" name="Google Shape;9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1777" cy="60896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SUS “AMIGOS/AS” EN LÍNEA</a:t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1881224" y="4444924"/>
            <a:ext cx="5367716" cy="1505301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>
              <a:alpha val="8078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1920980" y="4473053"/>
            <a:ext cx="5367716" cy="1477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¿Cuántos tienen en persona?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¿Y en cada red social?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¿Conocen a todos/as?</a:t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2464904" y="132245"/>
            <a:ext cx="927652" cy="636105"/>
          </a:xfrm>
          <a:prstGeom prst="wedgeRectCallout">
            <a:avLst>
              <a:gd fmla="val -20833" name="adj1"/>
              <a:gd fmla="val 75000" name="adj2"/>
            </a:avLst>
          </a:prstGeom>
          <a:solidFill>
            <a:srgbClr val="EB57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512</a:t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5638799" y="152468"/>
            <a:ext cx="927652" cy="636105"/>
          </a:xfrm>
          <a:prstGeom prst="wedgeRectCallout">
            <a:avLst>
              <a:gd fmla="val -20833" name="adj1"/>
              <a:gd fmla="val 75000" name="adj2"/>
            </a:avLst>
          </a:prstGeom>
          <a:solidFill>
            <a:srgbClr val="EB57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978</a:t>
            </a:r>
            <a:endParaRPr/>
          </a:p>
        </p:txBody>
      </p:sp>
      <p:grpSp>
        <p:nvGrpSpPr>
          <p:cNvPr id="104" name="Google Shape;104;p4"/>
          <p:cNvGrpSpPr/>
          <p:nvPr/>
        </p:nvGrpSpPr>
        <p:grpSpPr>
          <a:xfrm>
            <a:off x="5734881" y="261696"/>
            <a:ext cx="308114" cy="354944"/>
            <a:chOff x="5734881" y="261696"/>
            <a:chExt cx="308114" cy="354944"/>
          </a:xfrm>
        </p:grpSpPr>
        <p:sp>
          <p:nvSpPr>
            <p:cNvPr id="105" name="Google Shape;105;p4"/>
            <p:cNvSpPr/>
            <p:nvPr/>
          </p:nvSpPr>
          <p:spPr>
            <a:xfrm rot="-5400000">
              <a:off x="5826060" y="399705"/>
              <a:ext cx="125755" cy="308114"/>
            </a:xfrm>
            <a:prstGeom prst="flowChartDelay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5787887" y="261696"/>
              <a:ext cx="193697" cy="16927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4"/>
          <p:cNvSpPr/>
          <p:nvPr/>
        </p:nvSpPr>
        <p:spPr>
          <a:xfrm>
            <a:off x="6785113" y="165652"/>
            <a:ext cx="1046921" cy="636105"/>
          </a:xfrm>
          <a:prstGeom prst="wedgeRectCallout">
            <a:avLst>
              <a:gd fmla="val -20833" name="adj1"/>
              <a:gd fmla="val 75000" name="adj2"/>
            </a:avLst>
          </a:prstGeom>
          <a:solidFill>
            <a:srgbClr val="EB57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2324</a:t>
            </a:r>
            <a:endParaRPr/>
          </a:p>
        </p:txBody>
      </p:sp>
      <p:grpSp>
        <p:nvGrpSpPr>
          <p:cNvPr id="108" name="Google Shape;108;p4"/>
          <p:cNvGrpSpPr/>
          <p:nvPr/>
        </p:nvGrpSpPr>
        <p:grpSpPr>
          <a:xfrm>
            <a:off x="6883274" y="294206"/>
            <a:ext cx="308114" cy="354944"/>
            <a:chOff x="5734881" y="261696"/>
            <a:chExt cx="308114" cy="354944"/>
          </a:xfrm>
        </p:grpSpPr>
        <p:sp>
          <p:nvSpPr>
            <p:cNvPr id="109" name="Google Shape;109;p4"/>
            <p:cNvSpPr/>
            <p:nvPr/>
          </p:nvSpPr>
          <p:spPr>
            <a:xfrm rot="-5400000">
              <a:off x="5826060" y="399705"/>
              <a:ext cx="125755" cy="308114"/>
            </a:xfrm>
            <a:prstGeom prst="flowChartDelay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5787887" y="261696"/>
              <a:ext cx="193697" cy="16927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4"/>
          <p:cNvGrpSpPr/>
          <p:nvPr/>
        </p:nvGrpSpPr>
        <p:grpSpPr>
          <a:xfrm>
            <a:off x="2554356" y="253538"/>
            <a:ext cx="308114" cy="354944"/>
            <a:chOff x="5734881" y="261696"/>
            <a:chExt cx="308114" cy="354944"/>
          </a:xfrm>
        </p:grpSpPr>
        <p:sp>
          <p:nvSpPr>
            <p:cNvPr id="112" name="Google Shape;112;p4"/>
            <p:cNvSpPr/>
            <p:nvPr/>
          </p:nvSpPr>
          <p:spPr>
            <a:xfrm rot="-5400000">
              <a:off x="5826060" y="399705"/>
              <a:ext cx="125755" cy="308114"/>
            </a:xfrm>
            <a:prstGeom prst="flowChartDelay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87887" y="261696"/>
              <a:ext cx="193697" cy="16927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RIESGOS QUE SE PUEDEN PREVENIR</a:t>
            </a:r>
            <a:endParaRPr/>
          </a:p>
        </p:txBody>
      </p:sp>
      <p:pic>
        <p:nvPicPr>
          <p:cNvPr id="119" name="Google Shape;119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293220"/>
            <a:ext cx="9144000" cy="2796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3643"/>
            <a:ext cx="9144000" cy="311364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0" y="3127292"/>
            <a:ext cx="9144000" cy="165928"/>
          </a:xfrm>
          <a:prstGeom prst="rect">
            <a:avLst/>
          </a:prstGeom>
          <a:solidFill>
            <a:srgbClr val="009A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621"/>
            <a:ext cx="9144000" cy="341137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RIESGOS QUE SE PUEDEN PREVENIR</a:t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0" y="3127292"/>
            <a:ext cx="9144000" cy="165928"/>
          </a:xfrm>
          <a:prstGeom prst="rect">
            <a:avLst/>
          </a:prstGeom>
          <a:solidFill>
            <a:srgbClr val="009A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293220"/>
            <a:ext cx="9144000" cy="2796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6350"/>
            <a:ext cx="9144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ACCESO A CONTENIDOS INAPROPIADOS</a:t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238536" y="3816625"/>
            <a:ext cx="8626847" cy="2062786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370470" y="3903877"/>
            <a:ext cx="8428972" cy="1962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Adecuarse a su edad y grado de madurez: todo tiene su momento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Ofrecer alternativas positivas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Cortar la difusión de contenidos dañinos y falsos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PENSAR ANTES DE COMPARTIR</a:t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5527725" y="232000"/>
            <a:ext cx="3507600" cy="55002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>
              <a:alpha val="6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5527725" y="438925"/>
            <a:ext cx="3670500" cy="52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NUNCA dar datos personales: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Nombre real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Teléfono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Dirección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Centro educativo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Horarios y rutinas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… Ni datos de otras personas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09663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9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SI SE COMPARTE, NO SE PUEDE CONTROLAR</a:t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139699" y="385110"/>
            <a:ext cx="2881797" cy="5313318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>
              <a:alpha val="6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183111" y="489853"/>
            <a:ext cx="2745619" cy="4771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Dar valor a su intimidad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No compartir nada que se pueda usar en su contra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Sin respeto no hay amor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No aceptar chantajes ni exigencias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>
            <a:alpha val="93725"/>
          </a:schemeClr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os sujetando mÃ³vil con instagram y el facebook en el portÃ¡til" id="158" name="Google Shape;1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27173" cy="60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3397" y="2531165"/>
            <a:ext cx="1514464" cy="117944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0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CUIDAR SU IMAGEN PÚBLICA</a:t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5983908" y="927654"/>
            <a:ext cx="2736023" cy="4784035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 txBox="1"/>
          <p:nvPr/>
        </p:nvSpPr>
        <p:spPr>
          <a:xfrm>
            <a:off x="6027320" y="1019868"/>
            <a:ext cx="2692611" cy="4651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Lo que comparten marca su imagen, ahora y a futuro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Configurar la privacidad para limitar la difusión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24" y="2010"/>
            <a:ext cx="9144000" cy="610209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1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UN CONTACTO EN LÍNEA NO ES UN AMIGO/A</a:t>
            </a:r>
            <a:endParaRPr/>
          </a:p>
        </p:txBody>
      </p:sp>
      <p:sp>
        <p:nvSpPr>
          <p:cNvPr id="169" name="Google Shape;169;p11"/>
          <p:cNvSpPr/>
          <p:nvPr/>
        </p:nvSpPr>
        <p:spPr>
          <a:xfrm>
            <a:off x="4863548" y="2345631"/>
            <a:ext cx="4116933" cy="359134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>
              <a:alpha val="9568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4969565" y="2491405"/>
            <a:ext cx="3999061" cy="3306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Es fácil hacerse pasar por otra persona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No saben quién está al otro lado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Aunque lleven tiempo en contacto no pueden fiarse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DESCONOCIDOS CON MALAS INTENCIONES</a:t>
            </a:r>
            <a:endParaRPr/>
          </a:p>
        </p:txBody>
      </p:sp>
      <p:pic>
        <p:nvPicPr>
          <p:cNvPr id="176" name="Google Shape;176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718852" cy="4247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2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91201" y="0"/>
            <a:ext cx="3352799" cy="4247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2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4247598"/>
            <a:ext cx="9144000" cy="184205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2"/>
          <p:cNvSpPr/>
          <p:nvPr/>
        </p:nvSpPr>
        <p:spPr>
          <a:xfrm>
            <a:off x="4333456" y="3955841"/>
            <a:ext cx="4651513" cy="202089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>
              <a:alpha val="9882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 txBox="1"/>
          <p:nvPr/>
        </p:nvSpPr>
        <p:spPr>
          <a:xfrm>
            <a:off x="4439475" y="4022101"/>
            <a:ext cx="4439476" cy="1842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Chantajes económicos o sexuales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Captarles hacia comunidades peligrosas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" y="0"/>
            <a:ext cx="9144001" cy="609533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3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SE PUEDE PARAR EL CIBERACOSO</a:t>
            </a:r>
            <a:endParaRPr/>
          </a:p>
        </p:txBody>
      </p:sp>
      <p:sp>
        <p:nvSpPr>
          <p:cNvPr id="187" name="Google Shape;187;p13"/>
          <p:cNvSpPr/>
          <p:nvPr/>
        </p:nvSpPr>
        <p:spPr>
          <a:xfrm>
            <a:off x="2690191" y="3821375"/>
            <a:ext cx="6235456" cy="2099197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2849217" y="3932820"/>
            <a:ext cx="6076430" cy="1987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No dar me gusta ni compartir mensajes humillantes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Apoyar a la víctima y pedir ayuda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Compartir solo mensajes positivos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6563" y="0"/>
            <a:ext cx="4747437" cy="60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4396563" cy="60949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4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DETECTAR Y EVITAR UN USO EXCESIVO</a:t>
            </a:r>
            <a:endParaRPr/>
          </a:p>
        </p:txBody>
      </p:sp>
      <p:sp>
        <p:nvSpPr>
          <p:cNvPr id="196" name="Google Shape;196;p14"/>
          <p:cNvSpPr/>
          <p:nvPr/>
        </p:nvSpPr>
        <p:spPr>
          <a:xfrm>
            <a:off x="192708" y="3101167"/>
            <a:ext cx="3842226" cy="2000919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>
              <a:alpha val="9568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296547" y="3172856"/>
            <a:ext cx="3738386" cy="1929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Señales de alerta: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Aislamiento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Irritabilidad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Cambios en rutinas</a:t>
            </a: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4529085" y="80257"/>
            <a:ext cx="4396563" cy="1456996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4"/>
          <p:cNvSpPr txBox="1"/>
          <p:nvPr/>
        </p:nvSpPr>
        <p:spPr>
          <a:xfrm>
            <a:off x="4641420" y="80256"/>
            <a:ext cx="4396563" cy="1456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Herramientas preventivas: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Acordar unas normas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Darles alternativas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08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5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 CLAVE: LA MEDIACIÓN PARENTAL</a:t>
            </a:r>
            <a:endParaRPr/>
          </a:p>
        </p:txBody>
      </p:sp>
      <p:sp>
        <p:nvSpPr>
          <p:cNvPr id="206" name="Google Shape;206;p15"/>
          <p:cNvSpPr/>
          <p:nvPr/>
        </p:nvSpPr>
        <p:spPr>
          <a:xfrm>
            <a:off x="4214191" y="365905"/>
            <a:ext cx="4744279" cy="2098999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>
              <a:alpha val="9568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 txBox="1"/>
          <p:nvPr/>
        </p:nvSpPr>
        <p:spPr>
          <a:xfrm>
            <a:off x="4339988" y="477350"/>
            <a:ext cx="4618482" cy="1676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Es necesario implicarse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Saber escucharles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Vale más la experiencia vital que saber de las TIC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 CLAVE: LA MEDIACIÓN PARENTAL</a:t>
            </a:r>
            <a:endParaRPr/>
          </a:p>
        </p:txBody>
      </p:sp>
      <p:pic>
        <p:nvPicPr>
          <p:cNvPr id="213" name="Google Shape;2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90" y="605873"/>
            <a:ext cx="8830041" cy="4968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7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 MEJOR SUPERVISIÓN: EL DIÁLOGO</a:t>
            </a:r>
            <a:endParaRPr/>
          </a:p>
        </p:txBody>
      </p:sp>
      <p:sp>
        <p:nvSpPr>
          <p:cNvPr id="220" name="Google Shape;220;p17"/>
          <p:cNvSpPr/>
          <p:nvPr/>
        </p:nvSpPr>
        <p:spPr>
          <a:xfrm>
            <a:off x="462495" y="4412976"/>
            <a:ext cx="8230929" cy="1510746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 txBox="1"/>
          <p:nvPr/>
        </p:nvSpPr>
        <p:spPr>
          <a:xfrm>
            <a:off x="553083" y="4465983"/>
            <a:ext cx="8127090" cy="13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Hablar de manera cotidiana sobre su día a día en la red (igual que sobre el cole/instituto, etc.)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Es posible apoyarse en controles parentales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608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8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IMPRESCINDIBLE: EL ACOMPAÑAMIENTO</a:t>
            </a:r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5407730" y="2951088"/>
            <a:ext cx="3476961" cy="2849216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>
              <a:alpha val="9176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5512904" y="2968488"/>
            <a:ext cx="3371787" cy="2849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Aprender juntos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Avanzar paulatinamente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Promover su responsabilidad y autonomía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IMPRESCINDIBLE: EL ACOMPAÑAMIENTO</a:t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5407730" y="2951088"/>
            <a:ext cx="3476961" cy="2849216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>
              <a:alpha val="6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699" y="540829"/>
            <a:ext cx="8864969" cy="4984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345" y="4452502"/>
            <a:ext cx="4965925" cy="1508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8323" y="4505671"/>
            <a:ext cx="3785375" cy="1466753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 MEJOR BASE: LAS HABILIDADES SOCIALES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371061" y="134433"/>
            <a:ext cx="8481391" cy="4390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Al otro lado de la pantalla siempre hay una persona: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3366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Respeto: tratar como les gustaría que les trataran</a:t>
            </a:r>
            <a:endParaRPr/>
          </a:p>
          <a:p>
            <a:pPr indent="-2667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None/>
            </a:pPr>
            <a:r>
              <a:t/>
            </a:r>
            <a:endParaRPr b="1" sz="3000">
              <a:solidFill>
                <a:srgbClr val="3366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Empatía: ponerse en el lugar del otro/a</a:t>
            </a:r>
            <a:endParaRPr/>
          </a:p>
          <a:p>
            <a:pPr indent="-2667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None/>
            </a:pPr>
            <a:r>
              <a:t/>
            </a:r>
            <a:endParaRPr b="1" sz="3000">
              <a:solidFill>
                <a:srgbClr val="3366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Asertividad: expresarse sin herir a los demás</a:t>
            </a:r>
            <a:endParaRPr/>
          </a:p>
          <a:p>
            <a:pPr indent="-2667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None/>
            </a:pPr>
            <a:r>
              <a:t/>
            </a:r>
            <a:endParaRPr b="1" sz="3000">
              <a:solidFill>
                <a:srgbClr val="3366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Pensamiento crítico: reflexionar sobre lo que ven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RECURSOS DE UTILIDAD EN WWW.IS4K.ES</a:t>
            </a:r>
            <a:endParaRPr/>
          </a:p>
        </p:txBody>
      </p:sp>
      <p:pic>
        <p:nvPicPr>
          <p:cNvPr id="250" name="Google Shape;250;p2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322027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914401" y="3235708"/>
            <a:ext cx="8566180" cy="26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Línea de Ayuda 017</a:t>
            </a:r>
            <a:endParaRPr b="1" sz="3000">
              <a:solidFill>
                <a:srgbClr val="3366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Cibercooperantes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Jornadas Escolares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Información y actualidad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Recursos (guías, juegos, controles parentales…)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Facebook: @is4k.es	          Twitter: @is4k</a:t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0" y="3127292"/>
            <a:ext cx="9144000" cy="165928"/>
          </a:xfrm>
          <a:prstGeom prst="rect">
            <a:avLst/>
          </a:prstGeom>
          <a:solidFill>
            <a:srgbClr val="009A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08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2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MODELOS DE PACTOS Y ACUERDOS</a:t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4548117" y="2371166"/>
            <a:ext cx="4389713" cy="2465877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4634574" y="2462630"/>
            <a:ext cx="4303257" cy="2374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Buen uso del móvil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De la tableta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De la videoconsola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Compartir dispositivos familiares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32"/>
            <a:ext cx="9144000" cy="609654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ASEGURANDO LOS DISPOSITIVOS FAMILIARES</a:t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243538" y="198940"/>
            <a:ext cx="5229610" cy="2597269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347377" y="270629"/>
            <a:ext cx="5125771" cy="2432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Siempre con antivirus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Tener el sistema y las aplicaciones actualizadas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Emplear cuentas de usuario limitado (no administrador)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-11" r="-11" t="-1"/>
          <a:stretch/>
        </p:blipFill>
        <p:spPr>
          <a:xfrm>
            <a:off x="-1" y="3377"/>
            <a:ext cx="4572001" cy="1489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4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-546" t="0"/>
          <a:stretch/>
        </p:blipFill>
        <p:spPr>
          <a:xfrm>
            <a:off x="-1129" y="1632798"/>
            <a:ext cx="4572000" cy="1489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4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5249" l="0" r="0" t="0"/>
          <a:stretch/>
        </p:blipFill>
        <p:spPr>
          <a:xfrm>
            <a:off x="-1" y="3280098"/>
            <a:ext cx="9141745" cy="279643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4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OPCIONES DE BÚSQUEDA SEGURA</a:t>
            </a:r>
            <a:endParaRPr/>
          </a:p>
        </p:txBody>
      </p:sp>
      <p:sp>
        <p:nvSpPr>
          <p:cNvPr id="277" name="Google Shape;277;p24"/>
          <p:cNvSpPr/>
          <p:nvPr/>
        </p:nvSpPr>
        <p:spPr>
          <a:xfrm>
            <a:off x="4572001" y="3377"/>
            <a:ext cx="4568779" cy="31219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24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0" l="-2325" r="-1" t="0"/>
          <a:stretch/>
        </p:blipFill>
        <p:spPr>
          <a:xfrm>
            <a:off x="4571999" y="3378"/>
            <a:ext cx="4572001" cy="3105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9610" y="2092803"/>
            <a:ext cx="1015978" cy="101597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80" name="Google Shape;280;p24"/>
          <p:cNvSpPr/>
          <p:nvPr/>
        </p:nvSpPr>
        <p:spPr>
          <a:xfrm>
            <a:off x="3609589" y="3405960"/>
            <a:ext cx="5333449" cy="107327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 txBox="1"/>
          <p:nvPr/>
        </p:nvSpPr>
        <p:spPr>
          <a:xfrm>
            <a:off x="3713429" y="3477649"/>
            <a:ext cx="5229610" cy="100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Aplicaciones para menores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Configuración de buscadores</a:t>
            </a:r>
            <a:endParaRPr/>
          </a:p>
        </p:txBody>
      </p:sp>
      <p:sp>
        <p:nvSpPr>
          <p:cNvPr id="282" name="Google Shape;282;p24"/>
          <p:cNvSpPr/>
          <p:nvPr/>
        </p:nvSpPr>
        <p:spPr>
          <a:xfrm>
            <a:off x="0" y="3114040"/>
            <a:ext cx="9144000" cy="165928"/>
          </a:xfrm>
          <a:prstGeom prst="rect">
            <a:avLst/>
          </a:prstGeom>
          <a:solidFill>
            <a:srgbClr val="009A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-3220" y="1448359"/>
            <a:ext cx="4575221" cy="165928"/>
          </a:xfrm>
          <a:prstGeom prst="rect">
            <a:avLst/>
          </a:prstGeom>
          <a:solidFill>
            <a:srgbClr val="009A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4487359" y="13051"/>
            <a:ext cx="165600" cy="3201885"/>
          </a:xfrm>
          <a:prstGeom prst="rect">
            <a:avLst/>
          </a:prstGeom>
          <a:solidFill>
            <a:srgbClr val="009A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102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5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89543" y="578751"/>
            <a:ext cx="1933575" cy="5191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HERRAMIENTAS DE CONTROL PARENTAL</a:t>
            </a:r>
            <a:endParaRPr/>
          </a:p>
        </p:txBody>
      </p:sp>
      <p:sp>
        <p:nvSpPr>
          <p:cNvPr id="292" name="Google Shape;292;p25"/>
          <p:cNvSpPr/>
          <p:nvPr/>
        </p:nvSpPr>
        <p:spPr>
          <a:xfrm>
            <a:off x="317123" y="260844"/>
            <a:ext cx="5947202" cy="1103932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 txBox="1"/>
          <p:nvPr/>
        </p:nvSpPr>
        <p:spPr>
          <a:xfrm>
            <a:off x="380019" y="317697"/>
            <a:ext cx="5843362" cy="992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Pueden ayudar en la supervisión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No sustituyen la presencia física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CONTRASEÑAS MÁS SEGURAS</a:t>
            </a:r>
            <a:endParaRPr/>
          </a:p>
        </p:txBody>
      </p:sp>
      <p:pic>
        <p:nvPicPr>
          <p:cNvPr id="299" name="Google Shape;299;p2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355184"/>
            <a:ext cx="9144000" cy="2724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99350" y="1220450"/>
            <a:ext cx="2990441" cy="1668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03648" y="522050"/>
            <a:ext cx="10800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6"/>
          <p:cNvSpPr/>
          <p:nvPr/>
        </p:nvSpPr>
        <p:spPr>
          <a:xfrm>
            <a:off x="142865" y="132523"/>
            <a:ext cx="5296134" cy="3074503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 txBox="1"/>
          <p:nvPr/>
        </p:nvSpPr>
        <p:spPr>
          <a:xfrm>
            <a:off x="260352" y="212035"/>
            <a:ext cx="5178646" cy="3723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MAYÚSCULAS, minúsculas, números y símbolos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Fáciles de recordar y difíciles de adivinar, y secretas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Mejorar seguridad con doble autenticación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24" y="0"/>
            <a:ext cx="9144000" cy="6104534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7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BLOQUEO DE PANTALLA SEGURO</a:t>
            </a:r>
            <a:endParaRPr/>
          </a:p>
        </p:txBody>
      </p:sp>
      <p:sp>
        <p:nvSpPr>
          <p:cNvPr id="310" name="Google Shape;310;p27"/>
          <p:cNvSpPr/>
          <p:nvPr/>
        </p:nvSpPr>
        <p:spPr>
          <a:xfrm>
            <a:off x="168181" y="270335"/>
            <a:ext cx="3408719" cy="4314917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7"/>
          <p:cNvSpPr txBox="1"/>
          <p:nvPr/>
        </p:nvSpPr>
        <p:spPr>
          <a:xfrm>
            <a:off x="300703" y="368528"/>
            <a:ext cx="3276198" cy="4216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Reconocimiento de cara/huella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Contraseña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Pin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Patrón de desbloqueo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Pero siendo siempre discretos/as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8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DESCARGAS DE CONFIANZA</a:t>
            </a:r>
            <a:endParaRPr/>
          </a:p>
        </p:txBody>
      </p:sp>
      <p:pic>
        <p:nvPicPr>
          <p:cNvPr id="317" name="Google Shape;317;p2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-2"/>
          <a:stretch/>
        </p:blipFill>
        <p:spPr>
          <a:xfrm>
            <a:off x="-2" y="0"/>
            <a:ext cx="9144002" cy="3551583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8"/>
          <p:cNvSpPr/>
          <p:nvPr/>
        </p:nvSpPr>
        <p:spPr>
          <a:xfrm>
            <a:off x="4242570" y="2333570"/>
            <a:ext cx="861496" cy="3048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DD3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7032152" y="2068526"/>
            <a:ext cx="1742765" cy="3048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DD3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166994" y="3914707"/>
            <a:ext cx="8349208" cy="2076669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 txBox="1"/>
          <p:nvPr/>
        </p:nvSpPr>
        <p:spPr>
          <a:xfrm>
            <a:off x="243536" y="4026152"/>
            <a:ext cx="8272666" cy="1965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Descargar apps originales y en tiendas oficiales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Fijarse en la clasificación por edades (PEGI)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Reputación (valoración, descargas, comentarios)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Asegurarse que los permisos son coherentes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9144000" cy="6089651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9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PREPARADOS PARA TODO</a:t>
            </a:r>
            <a:endParaRPr/>
          </a:p>
        </p:txBody>
      </p:sp>
      <p:sp>
        <p:nvSpPr>
          <p:cNvPr id="328" name="Google Shape;328;p29"/>
          <p:cNvSpPr/>
          <p:nvPr/>
        </p:nvSpPr>
        <p:spPr>
          <a:xfrm>
            <a:off x="600501" y="4214936"/>
            <a:ext cx="8011236" cy="159901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731639" y="4285436"/>
            <a:ext cx="7880098" cy="1528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Va a haber situaciones problemáticas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Potenciemos su autoestima y responsabilidad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Cuidemos nuestra relación de confianza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CUANDO SURJAN LOS PROBLEMAS</a:t>
            </a:r>
            <a:endParaRPr/>
          </a:p>
        </p:txBody>
      </p:sp>
      <p:sp>
        <p:nvSpPr>
          <p:cNvPr id="335" name="Google Shape;335;p30"/>
          <p:cNvSpPr/>
          <p:nvPr/>
        </p:nvSpPr>
        <p:spPr>
          <a:xfrm>
            <a:off x="5598820" y="188843"/>
            <a:ext cx="3231283" cy="2047345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5716307" y="300288"/>
            <a:ext cx="3113796" cy="19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Pueden contar con nosotros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3000"/>
              <a:buFont typeface="Noto Sans Symbols"/>
              <a:buChar char="▪"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Y nosotros con IS4K.es</a:t>
            </a:r>
            <a:endParaRPr/>
          </a:p>
        </p:txBody>
      </p:sp>
      <p:pic>
        <p:nvPicPr>
          <p:cNvPr id="337" name="Google Shape;33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876" y="2463315"/>
            <a:ext cx="7071352" cy="3626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448" y="0"/>
            <a:ext cx="9144000" cy="2463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9144000" cy="3591609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1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¿QUÉ HEMOS APRENDIDO?</a:t>
            </a:r>
            <a:endParaRPr/>
          </a:p>
        </p:txBody>
      </p:sp>
      <p:sp>
        <p:nvSpPr>
          <p:cNvPr id="345" name="Google Shape;345;p31"/>
          <p:cNvSpPr txBox="1"/>
          <p:nvPr/>
        </p:nvSpPr>
        <p:spPr>
          <a:xfrm>
            <a:off x="292098" y="3591611"/>
            <a:ext cx="8851901" cy="2146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a) No, cuanto más socialicen mejor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b) Sí, porque muchos de ellos son desconocidos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c) No, esas amistades no son reales así que no pueden hacerles daño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d) Sí, pierden mucho tiempo enviándose mensajes</a:t>
            </a:r>
            <a:endParaRPr/>
          </a:p>
        </p:txBody>
      </p:sp>
      <p:sp>
        <p:nvSpPr>
          <p:cNvPr id="346" name="Google Shape;346;p31"/>
          <p:cNvSpPr/>
          <p:nvPr/>
        </p:nvSpPr>
        <p:spPr>
          <a:xfrm>
            <a:off x="954710" y="384786"/>
            <a:ext cx="7354405" cy="10223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1"/>
          <p:cNvSpPr txBox="1"/>
          <p:nvPr/>
        </p:nvSpPr>
        <p:spPr>
          <a:xfrm>
            <a:off x="1114914" y="384786"/>
            <a:ext cx="6846702" cy="580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¿ES UN PROBLEMA TENER TANTOS AMIGOS/AS EN LÍNEA?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591611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2"/>
          <p:cNvSpPr txBox="1"/>
          <p:nvPr/>
        </p:nvSpPr>
        <p:spPr>
          <a:xfrm>
            <a:off x="292099" y="3591611"/>
            <a:ext cx="8851901" cy="2146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a) Sí, si tienen amigos/as comunes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b) Sí, si ya llevan tiempo chateando juntos/as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c) Sí, con supervisión previa y yendo con ellos/as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d) No, Internet nunca ofrece nada bueno</a:t>
            </a:r>
            <a:endParaRPr/>
          </a:p>
        </p:txBody>
      </p:sp>
      <p:sp>
        <p:nvSpPr>
          <p:cNvPr id="354" name="Google Shape;354;p32"/>
          <p:cNvSpPr/>
          <p:nvPr/>
        </p:nvSpPr>
        <p:spPr>
          <a:xfrm>
            <a:off x="1054864" y="276408"/>
            <a:ext cx="7154098" cy="112047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2"/>
          <p:cNvSpPr txBox="1"/>
          <p:nvPr/>
        </p:nvSpPr>
        <p:spPr>
          <a:xfrm>
            <a:off x="1208153" y="346908"/>
            <a:ext cx="6660224" cy="1071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¿PUEDEN QUEDAR EN PERSONA CON UN AMIGO/A DE INTERNET?</a:t>
            </a:r>
            <a:endParaRPr/>
          </a:p>
        </p:txBody>
      </p:sp>
      <p:sp>
        <p:nvSpPr>
          <p:cNvPr id="356" name="Google Shape;356;p32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¿QUÉ HEMOS APRENDIDO?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591611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3"/>
          <p:cNvSpPr txBox="1"/>
          <p:nvPr>
            <p:ph type="title"/>
          </p:nvPr>
        </p:nvSpPr>
        <p:spPr>
          <a:xfrm>
            <a:off x="139699" y="6089650"/>
            <a:ext cx="8069263" cy="7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¿QUÉ HEMOS APRENDIDO?</a:t>
            </a:r>
            <a:endParaRPr/>
          </a:p>
        </p:txBody>
      </p:sp>
      <p:sp>
        <p:nvSpPr>
          <p:cNvPr id="363" name="Google Shape;363;p33"/>
          <p:cNvSpPr txBox="1"/>
          <p:nvPr/>
        </p:nvSpPr>
        <p:spPr>
          <a:xfrm>
            <a:off x="292099" y="3591611"/>
            <a:ext cx="8729071" cy="2146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a) No hace falta, saben más que nosotros de la red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b) Es suficiente con poner un control parental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c) Adecuada a su madurez, y basada en el diálogo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d) Revisar todos sus mensajes antes de enviarlos</a:t>
            </a:r>
            <a:endParaRPr/>
          </a:p>
        </p:txBody>
      </p:sp>
      <p:sp>
        <p:nvSpPr>
          <p:cNvPr id="364" name="Google Shape;364;p33"/>
          <p:cNvSpPr/>
          <p:nvPr/>
        </p:nvSpPr>
        <p:spPr>
          <a:xfrm>
            <a:off x="888452" y="2610678"/>
            <a:ext cx="7486922" cy="601748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3"/>
          <p:cNvSpPr txBox="1"/>
          <p:nvPr/>
        </p:nvSpPr>
        <p:spPr>
          <a:xfrm>
            <a:off x="1053229" y="2658308"/>
            <a:ext cx="6970072" cy="575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¿CÓMO DEBE SER NUESTRA SUPERVISIÓN?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pt extendida">
  <a:themeElements>
    <a:clrScheme name="Personalizado 2">
      <a:dk1>
        <a:srgbClr val="000000"/>
      </a:dk1>
      <a:lt1>
        <a:srgbClr val="FFFFFF"/>
      </a:lt1>
      <a:dk2>
        <a:srgbClr val="009ADA"/>
      </a:dk2>
      <a:lt2>
        <a:srgbClr val="BFBFBF"/>
      </a:lt2>
      <a:accent1>
        <a:srgbClr val="009ADA"/>
      </a:accent1>
      <a:accent2>
        <a:srgbClr val="68757E"/>
      </a:accent2>
      <a:accent3>
        <a:srgbClr val="9DB800"/>
      </a:accent3>
      <a:accent4>
        <a:srgbClr val="9DB800"/>
      </a:accent4>
      <a:accent5>
        <a:srgbClr val="8AA2AF"/>
      </a:accent5>
      <a:accent6>
        <a:srgbClr val="BFBFBF"/>
      </a:accent6>
      <a:hlink>
        <a:srgbClr val="009ADA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2019-01-02T13:06:19Z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2473935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S8.2.3</vt:lpwstr>
  </property>
</Properties>
</file>